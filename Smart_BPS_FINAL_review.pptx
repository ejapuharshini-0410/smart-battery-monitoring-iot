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6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0" r:id="rId5"/>
    <p:sldId id="264" r:id="rId6"/>
    <p:sldId id="259" r:id="rId7"/>
    <p:sldId id="263" r:id="rId8"/>
    <p:sldId id="258" r:id="rId9"/>
    <p:sldId id="268" r:id="rId10"/>
    <p:sldId id="270" r:id="rId11"/>
    <p:sldId id="265" r:id="rId12"/>
    <p:sldId id="267" r:id="rId13"/>
    <p:sldId id="269" r:id="rId14"/>
    <p:sldId id="273" r:id="rId15"/>
    <p:sldId id="275" r:id="rId16"/>
  </p:sldIdLst>
  <p:sldSz cx="18288000" cy="10287000"/>
  <p:notesSz cx="6858000" cy="9144000"/>
  <p:embeddedFontLst>
    <p:embeddedFont>
      <p:font typeface="Open Sans Condensed Bold"/>
      <p:bold r:id="rId20"/>
    </p:embeddedFont>
    <p:embeddedFont>
      <p:font typeface="Hacen Tunisia" panose="02000500000000000000"/>
      <p:regular r:id="rId21"/>
    </p:embeddedFont>
    <p:embeddedFont>
      <p:font typeface="Canva Sans" panose="020B0503030501040103"/>
      <p:regular r:id="rId22"/>
    </p:embeddedFont>
    <p:embeddedFont>
      <p:font typeface="Poppins" panose="00000500000000000000"/>
      <p:regular r:id="rId23"/>
    </p:embeddedFont>
    <p:embeddedFont>
      <p:font typeface="Nanum Gothic Coding" panose="020D0009000000000000" charset="-127"/>
      <p:regular r:id="rId24"/>
    </p:embeddedFont>
    <p:embeddedFont>
      <p:font typeface="Canva Sans Bold" panose="020B0803030501040103"/>
      <p:bold r:id="rId25"/>
    </p:embeddedFont>
    <p:embeddedFont>
      <p:font typeface="Hacen Tunisia Bold" panose="02000500000000000000"/>
      <p:regular r:id="rId26"/>
    </p:embeddedFont>
    <p:embeddedFont>
      <p:font typeface="Microsoft YaHei" panose="020B0503020204020204" charset="-122"/>
      <p:regular r:id="rId27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84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3.xml"/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8.xml"/><Relationship Id="rId3" Type="http://schemas.openxmlformats.org/officeDocument/2006/relationships/image" Target="../media/image9.png"/><Relationship Id="rId2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6" Type="http://schemas.openxmlformats.org/officeDocument/2006/relationships/tags" Target="../tags/tag10.xml"/><Relationship Id="rId5" Type="http://schemas.openxmlformats.org/officeDocument/2006/relationships/image" Target="../media/image10.png"/><Relationship Id="rId4" Type="http://schemas.openxmlformats.org/officeDocument/2006/relationships/tags" Target="../tags/tag9.xml"/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12.xml"/><Relationship Id="rId3" Type="http://schemas.openxmlformats.org/officeDocument/2006/relationships/image" Target="../media/image11.png"/><Relationship Id="rId2" Type="http://schemas.openxmlformats.org/officeDocument/2006/relationships/tags" Target="../tags/tag1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14.xml"/><Relationship Id="rId3" Type="http://schemas.openxmlformats.org/officeDocument/2006/relationships/image" Target="../media/image12.png"/><Relationship Id="rId2" Type="http://schemas.openxmlformats.org/officeDocument/2006/relationships/tags" Target="../tags/tag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16.xml"/><Relationship Id="rId3" Type="http://schemas.openxmlformats.org/officeDocument/2006/relationships/image" Target="../media/image13.png"/><Relationship Id="rId2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20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1787" y="1714271"/>
            <a:ext cx="5845241" cy="5384678"/>
          </a:xfrm>
          <a:custGeom>
            <a:avLst/>
            <a:gdLst/>
            <a:ahLst/>
            <a:cxnLst/>
            <a:rect l="l" t="t" r="r" b="b"/>
            <a:pathLst>
              <a:path w="5845241" h="5384678">
                <a:moveTo>
                  <a:pt x="0" y="0"/>
                </a:moveTo>
                <a:lnTo>
                  <a:pt x="5845242" y="0"/>
                </a:lnTo>
                <a:lnTo>
                  <a:pt x="5845242" y="5384679"/>
                </a:lnTo>
                <a:lnTo>
                  <a:pt x="0" y="5384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80" r="-869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47029" y="1942871"/>
            <a:ext cx="12098011" cy="391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6090" b="1">
                <a:solidFill>
                  <a:srgbClr val="0E5284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SMART AUTOMATIC BATTERY MANAGEMENT</a:t>
            </a:r>
            <a:endParaRPr lang="en-US" sz="6090" b="1">
              <a:solidFill>
                <a:srgbClr val="0E5284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  <a:p>
            <a:pPr algn="ctr">
              <a:lnSpc>
                <a:spcPts val="4995"/>
              </a:lnSpc>
            </a:pPr>
            <a:r>
              <a:rPr lang="en-US" sz="6090" b="1">
                <a:solidFill>
                  <a:srgbClr val="0E5284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MONITORING AND PROTECTION</a:t>
            </a:r>
            <a:endParaRPr lang="en-US" sz="6090" b="1">
              <a:solidFill>
                <a:srgbClr val="0E5284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  <a:p>
            <a:pPr algn="ctr">
              <a:lnSpc>
                <a:spcPts val="4995"/>
              </a:lnSpc>
            </a:pPr>
            <a:r>
              <a:rPr lang="en-US" sz="6090" b="1">
                <a:solidFill>
                  <a:srgbClr val="0E5284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SYSTEM</a:t>
            </a:r>
            <a:endParaRPr lang="en-US" sz="6090" b="1">
              <a:solidFill>
                <a:srgbClr val="0E5284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  <a:p>
            <a:pPr algn="ctr">
              <a:lnSpc>
                <a:spcPts val="4995"/>
              </a:lnSpc>
            </a:pPr>
            <a:r>
              <a:rPr lang="en-US" sz="6090" b="1">
                <a:solidFill>
                  <a:srgbClr val="0E5284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endParaRPr lang="en-US" sz="6090" b="1">
              <a:solidFill>
                <a:srgbClr val="0E5284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  <a:p>
            <a:pPr algn="ctr">
              <a:lnSpc>
                <a:spcPts val="5485"/>
              </a:lnSpc>
            </a:pPr>
          </a:p>
        </p:txBody>
      </p:sp>
      <p:grpSp>
        <p:nvGrpSpPr>
          <p:cNvPr id="5" name="Group 5"/>
          <p:cNvGrpSpPr/>
          <p:nvPr/>
        </p:nvGrpSpPr>
        <p:grpSpPr>
          <a:xfrm rot="0">
            <a:off x="7464323" y="5448228"/>
            <a:ext cx="3096666" cy="2080924"/>
            <a:chOff x="0" y="-60246"/>
            <a:chExt cx="271751" cy="182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098" cy="68314"/>
            </a:xfrm>
            <a:custGeom>
              <a:avLst/>
              <a:gdLst/>
              <a:ahLst/>
              <a:cxnLst/>
              <a:rect l="l" t="t" r="r" b="b"/>
              <a:pathLst>
                <a:path w="258098" h="68314">
                  <a:moveTo>
                    <a:pt x="0" y="0"/>
                  </a:moveTo>
                  <a:lnTo>
                    <a:pt x="258098" y="0"/>
                  </a:lnTo>
                  <a:lnTo>
                    <a:pt x="258098" y="68314"/>
                  </a:lnTo>
                  <a:lnTo>
                    <a:pt x="0" y="68314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653" y="-60246"/>
              <a:ext cx="258098" cy="182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Hacen Tunisia" panose="02000500000000000000"/>
                  <a:ea typeface="Hacen Tunisia" panose="02000500000000000000"/>
                  <a:cs typeface="Hacen Tunisia" panose="02000500000000000000"/>
                  <a:sym typeface="Hacen Tunisia" panose="02000500000000000000"/>
                </a:rPr>
                <a:t>BATCH NO:09</a:t>
              </a:r>
              <a:endParaRPr lang="en-US" sz="33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19900" y="4457921"/>
            <a:ext cx="10611398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E5284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Using ESP32 an</a:t>
            </a:r>
            <a:r>
              <a:rPr lang="en-US" sz="3200">
                <a:solidFill>
                  <a:srgbClr val="0E5284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 Raspberry Pi with Real-Time IoT Dashboard</a:t>
            </a:r>
            <a:endParaRPr lang="en-US" sz="3200">
              <a:solidFill>
                <a:srgbClr val="0E5284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48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6865960" y="6466819"/>
            <a:ext cx="4896760" cy="204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5"/>
              </a:lnSpc>
              <a:spcBef>
                <a:spcPct val="0"/>
              </a:spcBef>
            </a:pPr>
          </a:p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33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E. Harshini (25P85A0402)</a:t>
            </a:r>
            <a:endParaRPr lang="en-US" sz="233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33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B. Pranay Kumar (25P85A0401)</a:t>
            </a:r>
            <a:endParaRPr lang="en-US" sz="233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33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S. Prasad (24P81A0448)</a:t>
            </a:r>
            <a:endParaRPr lang="en-US" sz="233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33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N. Akanksha (24P81A0441)</a:t>
            </a:r>
            <a:endParaRPr lang="en-US" sz="233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54457" y="6872567"/>
            <a:ext cx="3467814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GUIDE</a:t>
            </a:r>
            <a:endParaRPr lang="en-US" sz="23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Ms. V. Sharvani Mam</a:t>
            </a:r>
            <a:endParaRPr lang="en-US" sz="23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(ASSISTANT PROFESSOR)</a:t>
            </a:r>
            <a:endParaRPr lang="en-US" sz="23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18360" y="3735705"/>
            <a:ext cx="13730605" cy="2820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65"/>
              </a:lnSpc>
            </a:pPr>
            <a:r>
              <a:rPr lang="en-US" alt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proposed system is a smart and automated battery management solution for real-time monitoring and protection. ESP32 continuously monitors battery voltage, current, and temperature and sends the data through Wi-Fi to Raspberry Pi. Raspberry Pi provides real-time visualization through an IoT dashboard and enables automatic control of the cooling fan and relay based on predefined safety limits.</a:t>
            </a:r>
            <a:endParaRPr lang="en-US" alt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610590" y="6896100"/>
            <a:ext cx="4749165" cy="3328670"/>
          </a:xfrm>
          <a:custGeom>
            <a:avLst/>
            <a:gdLst/>
            <a:ahLst/>
            <a:cxnLst/>
            <a:rect l="l" t="t" r="r" b="b"/>
            <a:pathLst>
              <a:path w="6615760" h="5232465">
                <a:moveTo>
                  <a:pt x="0" y="0"/>
                </a:moveTo>
                <a:lnTo>
                  <a:pt x="6615760" y="0"/>
                </a:lnTo>
                <a:lnTo>
                  <a:pt x="6615760" y="5232464"/>
                </a:lnTo>
                <a:lnTo>
                  <a:pt x="0" y="5232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129550" y="1426356"/>
            <a:ext cx="8028900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ABSTRACT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39238" y="7146058"/>
            <a:ext cx="9525" cy="103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-5474" y="6939915"/>
            <a:ext cx="17907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B</a:t>
            </a: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attery → ESP32 → Wi-Fi → Raspberry Pi → IoT Dashboard</a:t>
            </a:r>
            <a:endParaRPr lang="en-US" sz="3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4480"/>
              </a:lnSpc>
            </a:p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29550" y="1426356"/>
            <a:ext cx="8028900" cy="18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OBJECTIVES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  <a:p>
            <a:pPr algn="ctr">
              <a:lnSpc>
                <a:spcPts val="7040"/>
              </a:lnSpc>
            </a:pPr>
          </a:p>
        </p:txBody>
      </p:sp>
      <p:sp>
        <p:nvSpPr>
          <p:cNvPr id="7" name="Freeform 7"/>
          <p:cNvSpPr/>
          <p:nvPr/>
        </p:nvSpPr>
        <p:spPr>
          <a:xfrm flipH="1">
            <a:off x="0" y="6210300"/>
            <a:ext cx="5104765" cy="3944620"/>
          </a:xfrm>
          <a:custGeom>
            <a:avLst/>
            <a:gdLst/>
            <a:ahLst/>
            <a:cxnLst/>
            <a:rect l="l" t="t" r="r" b="b"/>
            <a:pathLst>
              <a:path w="6615760" h="5232465">
                <a:moveTo>
                  <a:pt x="6615760" y="0"/>
                </a:moveTo>
                <a:lnTo>
                  <a:pt x="0" y="0"/>
                </a:lnTo>
                <a:lnTo>
                  <a:pt x="0" y="5232465"/>
                </a:lnTo>
                <a:lnTo>
                  <a:pt x="6615760" y="5232465"/>
                </a:lnTo>
                <a:lnTo>
                  <a:pt x="66157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65649" y="4568392"/>
            <a:ext cx="9525" cy="103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1826161" y="3142516"/>
            <a:ext cx="13975362" cy="361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965" lvl="1" indent="-367665" algn="l">
              <a:lnSpc>
                <a:spcPts val="4770"/>
              </a:lnSpc>
              <a:buFont typeface="Arial" panose="020B0604020202020204"/>
              <a:buChar char="•"/>
            </a:pP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Mon</a:t>
            </a: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itor voltage, current and temperature in real time.</a:t>
            </a:r>
            <a:endParaRPr lang="en-US" sz="34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35965" lvl="1" indent="-367665" algn="l">
              <a:lnSpc>
                <a:spcPts val="4770"/>
              </a:lnSpc>
              <a:buFont typeface="Arial" panose="020B0604020202020204"/>
              <a:buChar char="•"/>
            </a:pP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Transmit battery data through Wi-Fi.</a:t>
            </a:r>
            <a:endParaRPr lang="en-US" sz="34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35965" lvl="1" indent="-367665" algn="l">
              <a:lnSpc>
                <a:spcPts val="4770"/>
              </a:lnSpc>
              <a:buFont typeface="Arial" panose="020B0604020202020204"/>
              <a:buChar char="•"/>
            </a:pP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Provide real-time IoT-based monitoring.</a:t>
            </a:r>
            <a:endParaRPr lang="en-US" sz="34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35965" lvl="1" indent="-367665" algn="l">
              <a:lnSpc>
                <a:spcPts val="4770"/>
              </a:lnSpc>
              <a:buFont typeface="Arial" panose="020B0604020202020204"/>
              <a:buChar char="•"/>
            </a:pP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Automatically control fan and relay.</a:t>
            </a:r>
            <a:endParaRPr lang="en-US" sz="34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35965" lvl="1" indent="-367665" algn="l">
              <a:lnSpc>
                <a:spcPts val="4770"/>
              </a:lnSpc>
              <a:buFont typeface="Arial" panose="020B0604020202020204"/>
              <a:buChar char="•"/>
            </a:pPr>
            <a:r>
              <a:rPr lang="en-US" sz="34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Improve battery safety and reduce manual monitoring</a:t>
            </a:r>
            <a:endParaRPr lang="en-US" sz="34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70"/>
              </a:lnSpc>
            </a:p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449462" y="3310881"/>
            <a:ext cx="6266438" cy="5947419"/>
          </a:xfrm>
          <a:custGeom>
            <a:avLst/>
            <a:gdLst/>
            <a:ahLst/>
            <a:cxnLst/>
            <a:rect l="l" t="t" r="r" b="b"/>
            <a:pathLst>
              <a:path w="6266438" h="5947419">
                <a:moveTo>
                  <a:pt x="0" y="0"/>
                </a:moveTo>
                <a:lnTo>
                  <a:pt x="6266438" y="0"/>
                </a:lnTo>
                <a:lnTo>
                  <a:pt x="6266438" y="5947419"/>
                </a:lnTo>
                <a:lnTo>
                  <a:pt x="0" y="5947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4469552" y="4903971"/>
            <a:ext cx="226259" cy="308415"/>
            <a:chOff x="0" y="0"/>
            <a:chExt cx="596285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6285" cy="812800"/>
            </a:xfrm>
            <a:custGeom>
              <a:avLst/>
              <a:gdLst/>
              <a:ahLst/>
              <a:cxnLst/>
              <a:rect l="l" t="t" r="r" b="b"/>
              <a:pathLst>
                <a:path w="596285" h="812800">
                  <a:moveTo>
                    <a:pt x="298142" y="0"/>
                  </a:moveTo>
                  <a:cubicBezTo>
                    <a:pt x="133483" y="0"/>
                    <a:pt x="0" y="181951"/>
                    <a:pt x="0" y="406400"/>
                  </a:cubicBezTo>
                  <a:cubicBezTo>
                    <a:pt x="0" y="630849"/>
                    <a:pt x="133483" y="812800"/>
                    <a:pt x="298142" y="812800"/>
                  </a:cubicBezTo>
                  <a:cubicBezTo>
                    <a:pt x="462802" y="812800"/>
                    <a:pt x="596285" y="630849"/>
                    <a:pt x="596285" y="406400"/>
                  </a:cubicBezTo>
                  <a:cubicBezTo>
                    <a:pt x="596285" y="181951"/>
                    <a:pt x="462802" y="0"/>
                    <a:pt x="298142" y="0"/>
                  </a:cubicBezTo>
                  <a:close/>
                </a:path>
              </a:pathLst>
            </a:custGeom>
            <a:solidFill>
              <a:srgbClr val="F6C1A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55902" y="0"/>
              <a:ext cx="48448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344233" y="3263256"/>
            <a:ext cx="8117606" cy="454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Batteries are widely used in electric vehicles, UPS systems, renewable energy systems, and portable electronics.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Improper battery operation can cause overheating, over-voltage, over-current, and battery damage.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ESP32 and sensors continuously monitor important battery parameters.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Wi-Fi and Raspberry Pi enable real-time monitoring and automatic protection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algn="just">
              <a:lnSpc>
                <a:spcPts val="3545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5129550" y="1426356"/>
            <a:ext cx="8028900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INTRODUCTION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672465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05420" y="1181246"/>
            <a:ext cx="8028900" cy="9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6600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HARDWARE COMPONENTS</a:t>
            </a:r>
            <a:endParaRPr lang="en-US" sz="6600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39238" y="7146058"/>
            <a:ext cx="9525" cy="103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-5474" y="6939915"/>
            <a:ext cx="17907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B</a:t>
            </a: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attery → ESP32 → Wi-Fi → Raspberry Pi → IoT Dashboard</a:t>
            </a:r>
            <a:endParaRPr lang="en-US" sz="3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4480"/>
              </a:lnSpc>
            </a:p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826260" y="2400300"/>
          <a:ext cx="14538960" cy="717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0535"/>
                <a:gridCol w="10258425"/>
              </a:tblGrid>
              <a:tr h="73660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power to the system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Collects and processes sensor data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Sensor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battery voltage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6393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Sensor (ACS712)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charging/discharging current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6929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battery temperature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8869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Communication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data transfer between ESP32 and Raspberry Pi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054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 and displays battery data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6992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Relay Module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automatic protection control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8991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Fan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cooling during high temperature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752501" y="520065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66048" y="1028846"/>
            <a:ext cx="12507593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WORKING PRINCIPLE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71483" y="8648483"/>
            <a:ext cx="12156392" cy="87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5"/>
              </a:lnSpc>
            </a:pPr>
            <a:r>
              <a:rPr lang="en-US" altLang="en-US" sz="3200"/>
              <a:t>The system continuously monitors battery parameters and automatically activates protection when unsafe conditions are detected.</a:t>
            </a:r>
            <a:endParaRPr lang="en-US" altLang="en-US" sz="3200"/>
          </a:p>
        </p:txBody>
      </p:sp>
      <p:pic>
        <p:nvPicPr>
          <p:cNvPr id="10" name="Picture 9" descr="slide13_workin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0" y="2233930"/>
            <a:ext cx="12594590" cy="63239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524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2954000" y="114300"/>
            <a:ext cx="5227955" cy="3651885"/>
          </a:xfrm>
          <a:custGeom>
            <a:avLst/>
            <a:gdLst/>
            <a:ahLst/>
            <a:cxnLst/>
            <a:rect l="l" t="t" r="r" b="b"/>
            <a:pathLst>
              <a:path w="6615760" h="5232465">
                <a:moveTo>
                  <a:pt x="0" y="0"/>
                </a:moveTo>
                <a:lnTo>
                  <a:pt x="6615760" y="0"/>
                </a:lnTo>
                <a:lnTo>
                  <a:pt x="6615760" y="5232464"/>
                </a:lnTo>
                <a:lnTo>
                  <a:pt x="0" y="5232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29550" y="1426356"/>
            <a:ext cx="8028900" cy="9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6600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SYSTEM ARCHITECTURE</a:t>
            </a:r>
            <a:endParaRPr lang="en-US" sz="6600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39238" y="7146058"/>
            <a:ext cx="9525" cy="103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-5474" y="6939915"/>
            <a:ext cx="1790747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B</a:t>
            </a:r>
            <a:r>
              <a:rPr lang="en-US" sz="32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attery → ESP32 → Wi-Fi → Raspberry Pi → IoT Dashboard</a:t>
            </a:r>
            <a:endParaRPr lang="en-US" sz="3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4480"/>
              </a:lnSpc>
            </a:p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38885" y="2673350"/>
            <a:ext cx="15568930" cy="71177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450945" y="-381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647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4469552" y="4903971"/>
            <a:ext cx="226259" cy="308415"/>
            <a:chOff x="0" y="0"/>
            <a:chExt cx="59628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285" cy="812800"/>
            </a:xfrm>
            <a:custGeom>
              <a:avLst/>
              <a:gdLst/>
              <a:ahLst/>
              <a:cxnLst/>
              <a:rect l="l" t="t" r="r" b="b"/>
              <a:pathLst>
                <a:path w="596285" h="812800">
                  <a:moveTo>
                    <a:pt x="298142" y="0"/>
                  </a:moveTo>
                  <a:cubicBezTo>
                    <a:pt x="133483" y="0"/>
                    <a:pt x="0" y="181951"/>
                    <a:pt x="0" y="406400"/>
                  </a:cubicBezTo>
                  <a:cubicBezTo>
                    <a:pt x="0" y="630849"/>
                    <a:pt x="133483" y="812800"/>
                    <a:pt x="298142" y="812800"/>
                  </a:cubicBezTo>
                  <a:cubicBezTo>
                    <a:pt x="462802" y="812800"/>
                    <a:pt x="596285" y="630849"/>
                    <a:pt x="596285" y="406400"/>
                  </a:cubicBezTo>
                  <a:cubicBezTo>
                    <a:pt x="596285" y="181951"/>
                    <a:pt x="462802" y="0"/>
                    <a:pt x="298142" y="0"/>
                  </a:cubicBezTo>
                  <a:close/>
                </a:path>
              </a:pathLst>
            </a:custGeom>
            <a:solidFill>
              <a:srgbClr val="F6C1A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55902" y="0"/>
              <a:ext cx="48448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28701" y="1105046"/>
            <a:ext cx="14311827" cy="85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255">
                <a:solidFill>
                  <a:schemeClr val="bg1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BATTERY PROTECTION &amp; CONTROL</a:t>
            </a:r>
            <a:endParaRPr lang="en-US" sz="7255">
              <a:solidFill>
                <a:schemeClr val="bg1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pic>
        <p:nvPicPr>
          <p:cNvPr id="11" name="Content Placeholder 4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28825" y="2324100"/>
            <a:ext cx="14248130" cy="74148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16746" y="1426356"/>
            <a:ext cx="11654509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WI-FI COMMUNICATION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80089" y="3850273"/>
            <a:ext cx="8839111" cy="317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65"/>
              </a:lnSpc>
            </a:pPr>
            <a:r>
              <a:rPr lang="en-US" sz="3030">
                <a:solidFill>
                  <a:srgbClr val="000000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</a:rPr>
              <a:t>Key Features:</a:t>
            </a:r>
            <a:endParaRPr lang="en-US" sz="3030">
              <a:solidFill>
                <a:srgbClr val="000000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</a:endParaRPr>
          </a:p>
          <a:p>
            <a:pPr marL="632460" lvl="1" indent="-316230" algn="l">
              <a:lnSpc>
                <a:spcPts val="3545"/>
              </a:lnSpc>
              <a:buFont typeface="Arial" panose="020B0604020202020204"/>
              <a:buChar char="•"/>
            </a:pPr>
            <a:r>
              <a:rPr 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Wireless data transmission</a:t>
            </a:r>
            <a:endParaRPr 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l">
              <a:lnSpc>
                <a:spcPts val="3545"/>
              </a:lnSpc>
              <a:buFont typeface="Arial" panose="020B0604020202020204"/>
              <a:buChar char="•"/>
            </a:pPr>
            <a:r>
              <a:rPr 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Built-in Wi-Fi connectivity</a:t>
            </a:r>
            <a:endParaRPr 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l">
              <a:lnSpc>
                <a:spcPts val="3545"/>
              </a:lnSpc>
              <a:buFont typeface="Arial" panose="020B0604020202020204"/>
              <a:buChar char="•"/>
            </a:pPr>
            <a:r>
              <a:rPr 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No additional wired communication bus required</a:t>
            </a:r>
            <a:endParaRPr 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l">
              <a:lnSpc>
                <a:spcPts val="3545"/>
              </a:lnSpc>
              <a:buFont typeface="Arial" panose="020B0604020202020204"/>
              <a:buChar char="•"/>
            </a:pPr>
            <a:r>
              <a:rPr 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Suitable for real-time IoT monitoring</a:t>
            </a:r>
            <a:endParaRPr 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l">
              <a:lnSpc>
                <a:spcPts val="3545"/>
              </a:lnSpc>
              <a:buFont typeface="Arial" panose="020B0604020202020204"/>
              <a:buChar char="•"/>
            </a:pPr>
            <a:r>
              <a:rPr 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Flexible and convenient connectivity</a:t>
            </a:r>
            <a:endParaRPr 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algn="just">
              <a:lnSpc>
                <a:spcPts val="3545"/>
              </a:lnSpc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914527" y="8953666"/>
            <a:ext cx="14177543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alt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ESP32 → Wi-Fi → Raspberry Pi → Real-Time IoT Monitoring</a:t>
            </a: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endParaRPr sz="2800"/>
          </a:p>
        </p:txBody>
      </p:sp>
      <p:pic>
        <p:nvPicPr>
          <p:cNvPr id="10" name="Picture 9" descr="slide11_wifi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5085"/>
          <a:stretch>
            <a:fillRect/>
          </a:stretch>
        </p:blipFill>
        <p:spPr>
          <a:xfrm>
            <a:off x="685800" y="2705100"/>
            <a:ext cx="8323580" cy="61410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4469552" y="4903971"/>
            <a:ext cx="226259" cy="308415"/>
            <a:chOff x="0" y="0"/>
            <a:chExt cx="59628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285" cy="812800"/>
            </a:xfrm>
            <a:custGeom>
              <a:avLst/>
              <a:gdLst/>
              <a:ahLst/>
              <a:cxnLst/>
              <a:rect l="l" t="t" r="r" b="b"/>
              <a:pathLst>
                <a:path w="596285" h="812800">
                  <a:moveTo>
                    <a:pt x="298142" y="0"/>
                  </a:moveTo>
                  <a:cubicBezTo>
                    <a:pt x="133483" y="0"/>
                    <a:pt x="0" y="181951"/>
                    <a:pt x="0" y="406400"/>
                  </a:cubicBezTo>
                  <a:cubicBezTo>
                    <a:pt x="0" y="630849"/>
                    <a:pt x="133483" y="812800"/>
                    <a:pt x="298142" y="812800"/>
                  </a:cubicBezTo>
                  <a:cubicBezTo>
                    <a:pt x="462802" y="812800"/>
                    <a:pt x="596285" y="630849"/>
                    <a:pt x="596285" y="406400"/>
                  </a:cubicBezTo>
                  <a:cubicBezTo>
                    <a:pt x="596285" y="181951"/>
                    <a:pt x="462802" y="0"/>
                    <a:pt x="298142" y="0"/>
                  </a:cubicBezTo>
                  <a:close/>
                </a:path>
              </a:pathLst>
            </a:custGeom>
            <a:solidFill>
              <a:srgbClr val="F6C1A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55902" y="0"/>
              <a:ext cx="48448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53758" y="3263256"/>
            <a:ext cx="8117606" cy="363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230" lvl="1" indent="0" algn="just">
              <a:lnSpc>
                <a:spcPts val="3545"/>
              </a:lnSpc>
              <a:buFont typeface="Arial" panose="020B0604020202020204"/>
              <a:buNone/>
            </a:pPr>
            <a:r>
              <a:rPr lang="en-US" altLang="en-US" sz="360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 Raspberry Pi Functions</a:t>
            </a:r>
            <a:endParaRPr lang="en-US" altLang="en-US" sz="360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Receives battery data from ESP32 through Wi-Fi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Processes and analyzes the sensor readings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Displays voltage, current and temperature in real time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Monitors battery status and safety conditions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632460" lvl="1" indent="-316230" algn="just">
              <a:lnSpc>
                <a:spcPts val="3545"/>
              </a:lnSpc>
              <a:buFont typeface="Arial" panose="020B0604020202020204"/>
              <a:buChar char="•"/>
            </a:pPr>
            <a:r>
              <a:rPr lang="en-US" altLang="en-US" sz="2930">
                <a:solidFill>
                  <a:srgbClr val="000000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Provides control/status of the fan and relay</a:t>
            </a:r>
            <a:endParaRPr lang="en-US" altLang="en-US" sz="293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algn="just">
              <a:lnSpc>
                <a:spcPts val="3545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826161" y="1416831"/>
            <a:ext cx="14311827" cy="90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2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RASPBERRY PI &amp; IOT DASHBOARD</a:t>
            </a:r>
            <a:endParaRPr lang="en-US" sz="72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pic>
        <p:nvPicPr>
          <p:cNvPr id="11" name="Picture 10" descr="slide12_dashboar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6460" y="2741930"/>
            <a:ext cx="7350760" cy="687197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237345" y="7035165"/>
            <a:ext cx="6020435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en-US" sz="2800">
                <a:latin typeface="Arial" panose="020B0604020202020204" pitchFamily="34" charset="0"/>
                <a:ea typeface="Microsoft YaHei" panose="020B0503020204020204" charset="-122"/>
              </a:rPr>
              <a:t>ESP32 → Wi-Fi → Raspberry Pi → Real-Time IoT Dashboard</a:t>
            </a:r>
            <a:endParaRPr lang="en-US" altLang="en-US" sz="2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362835" y="1028700"/>
            <a:ext cx="13366750" cy="1553210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4469552" y="4903971"/>
            <a:ext cx="226259" cy="308415"/>
            <a:chOff x="0" y="0"/>
            <a:chExt cx="59628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285" cy="812800"/>
            </a:xfrm>
            <a:custGeom>
              <a:avLst/>
              <a:gdLst/>
              <a:ahLst/>
              <a:cxnLst/>
              <a:rect l="l" t="t" r="r" b="b"/>
              <a:pathLst>
                <a:path w="596285" h="812800">
                  <a:moveTo>
                    <a:pt x="298142" y="0"/>
                  </a:moveTo>
                  <a:cubicBezTo>
                    <a:pt x="133483" y="0"/>
                    <a:pt x="0" y="181951"/>
                    <a:pt x="0" y="406400"/>
                  </a:cubicBezTo>
                  <a:cubicBezTo>
                    <a:pt x="0" y="630849"/>
                    <a:pt x="133483" y="812800"/>
                    <a:pt x="298142" y="812800"/>
                  </a:cubicBezTo>
                  <a:cubicBezTo>
                    <a:pt x="462802" y="812800"/>
                    <a:pt x="596285" y="630849"/>
                    <a:pt x="596285" y="406400"/>
                  </a:cubicBezTo>
                  <a:cubicBezTo>
                    <a:pt x="596285" y="181951"/>
                    <a:pt x="462802" y="0"/>
                    <a:pt x="298142" y="0"/>
                  </a:cubicBezTo>
                  <a:close/>
                </a:path>
              </a:pathLst>
            </a:custGeom>
            <a:solidFill>
              <a:srgbClr val="F6C1A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55902" y="0"/>
              <a:ext cx="48448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19400" y="3162300"/>
            <a:ext cx="11370945" cy="54178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Integrated System:</a:t>
            </a:r>
            <a:endParaRPr lang="en-US" altLang="en-US" sz="2800" b="1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 Combines battery monitoring, Wi-Fi communication, Raspberry Pi processing, IoT visualization, and automatic protection.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• Real-Time Monitoring:</a:t>
            </a:r>
            <a:endParaRPr lang="en-US" altLang="en-US" sz="2800" b="1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 Continuously monitors battery voltage, charging/discharging current, and temperature and displays the values on the IoT dashboard.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• Automatic Protection: </a:t>
            </a:r>
            <a:endParaRPr lang="en-US" altLang="en-US" sz="2800" b="1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Transfers sensor data through Wi-Fi ad automatically controls the fan and relay based on battery conditions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just">
              <a:lnSpc>
                <a:spcPts val="3545"/>
              </a:lnSpc>
            </a:pP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26161" y="1416831"/>
            <a:ext cx="14311827" cy="85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5"/>
              </a:lnSpc>
            </a:pPr>
            <a:r>
              <a:rPr lang="en-US" sz="72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RESULTS AND OUTPUTS</a:t>
            </a:r>
            <a:endParaRPr lang="en-US" sz="72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657243" y="1651545"/>
            <a:ext cx="6944615" cy="1685848"/>
            <a:chOff x="0" y="0"/>
            <a:chExt cx="425465" cy="103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5465" cy="103284"/>
            </a:xfrm>
            <a:custGeom>
              <a:avLst/>
              <a:gdLst/>
              <a:ahLst/>
              <a:cxnLst/>
              <a:rect l="l" t="t" r="r" b="b"/>
              <a:pathLst>
                <a:path w="425465" h="103284">
                  <a:moveTo>
                    <a:pt x="0" y="0"/>
                  </a:moveTo>
                  <a:lnTo>
                    <a:pt x="425465" y="0"/>
                  </a:lnTo>
                  <a:lnTo>
                    <a:pt x="425465" y="103284"/>
                  </a:lnTo>
                  <a:lnTo>
                    <a:pt x="0" y="1032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425465" cy="179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657243" y="4210799"/>
            <a:ext cx="6944615" cy="4522753"/>
            <a:chOff x="0" y="0"/>
            <a:chExt cx="425465" cy="2770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5465" cy="277088"/>
            </a:xfrm>
            <a:custGeom>
              <a:avLst/>
              <a:gdLst/>
              <a:ahLst/>
              <a:cxnLst/>
              <a:rect l="l" t="t" r="r" b="b"/>
              <a:pathLst>
                <a:path w="425465" h="277088">
                  <a:moveTo>
                    <a:pt x="0" y="0"/>
                  </a:moveTo>
                  <a:lnTo>
                    <a:pt x="425465" y="0"/>
                  </a:lnTo>
                  <a:lnTo>
                    <a:pt x="425465" y="277088"/>
                  </a:lnTo>
                  <a:lnTo>
                    <a:pt x="0" y="277088"/>
                  </a:lnTo>
                  <a:close/>
                </a:path>
              </a:pathLst>
            </a:custGeom>
            <a:solidFill>
              <a:srgbClr val="0078C5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425465" cy="353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9144000" y="4210799"/>
            <a:ext cx="6944615" cy="4522753"/>
            <a:chOff x="0" y="0"/>
            <a:chExt cx="425465" cy="2770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5465" cy="277088"/>
            </a:xfrm>
            <a:custGeom>
              <a:avLst/>
              <a:gdLst/>
              <a:ahLst/>
              <a:cxnLst/>
              <a:rect l="l" t="t" r="r" b="b"/>
              <a:pathLst>
                <a:path w="425465" h="277088">
                  <a:moveTo>
                    <a:pt x="0" y="0"/>
                  </a:moveTo>
                  <a:lnTo>
                    <a:pt x="425465" y="0"/>
                  </a:lnTo>
                  <a:lnTo>
                    <a:pt x="425465" y="277088"/>
                  </a:lnTo>
                  <a:lnTo>
                    <a:pt x="0" y="277088"/>
                  </a:lnTo>
                  <a:close/>
                </a:path>
              </a:pathLst>
            </a:custGeom>
            <a:solidFill>
              <a:srgbClr val="0078C5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425465" cy="353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1531339"/>
            <a:ext cx="10602215" cy="1542140"/>
          </a:xfrm>
          <a:custGeom>
            <a:avLst/>
            <a:gdLst/>
            <a:ahLst/>
            <a:cxnLst/>
            <a:rect l="l" t="t" r="r" b="b"/>
            <a:pathLst>
              <a:path w="10602215" h="1542140">
                <a:moveTo>
                  <a:pt x="0" y="0"/>
                </a:moveTo>
                <a:lnTo>
                  <a:pt x="10602215" y="0"/>
                </a:lnTo>
                <a:lnTo>
                  <a:pt x="10602215" y="1542141"/>
                </a:lnTo>
                <a:lnTo>
                  <a:pt x="0" y="154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15100" y="2115483"/>
            <a:ext cx="8028900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0A4570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FUTURE SCOPE</a:t>
            </a:r>
            <a:endParaRPr lang="en-US" sz="7655">
              <a:solidFill>
                <a:srgbClr val="0A4570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86305" y="4668520"/>
            <a:ext cx="5965825" cy="34423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3665"/>
              </a:lnSpc>
            </a:pPr>
            <a:r>
              <a:rPr lang="en-US" sz="3200" u="sng">
                <a:solidFill>
                  <a:srgbClr val="FFFFFF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</a:rPr>
              <a:t>Advanced Monitoring</a:t>
            </a:r>
            <a:endParaRPr lang="en-US" sz="3200" u="sng">
              <a:solidFill>
                <a:srgbClr val="FFFFFF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</a:endParaRPr>
          </a:p>
          <a:p>
            <a:pPr marL="457200" indent="-457200" algn="just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SOC &amp; SOH estimation for accurate battery health monitoring. 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457200" indent="-457200" algn="just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Cell-level monitoring and battery balancing. 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457200" indent="-457200" algn="just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Cloud storage and mobile app for remote access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33327" y="4914616"/>
            <a:ext cx="5965962" cy="365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3200" u="sng">
                <a:solidFill>
                  <a:srgbClr val="FFFFFF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</a:rPr>
              <a:t>Smart Protection</a:t>
            </a:r>
            <a:endParaRPr lang="en-US" sz="3200" u="sng">
              <a:solidFill>
                <a:srgbClr val="FFFFFF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</a:endParaRPr>
          </a:p>
          <a:p>
            <a:pPr marL="457200" indent="-457200" algn="l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Fault prediction using AI/ML. 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457200" indent="-457200" algn="l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Automatic alerts through SMS, email, or mobile app. 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marL="457200" indent="-457200" algn="l">
              <a:lnSpc>
                <a:spcPts val="354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Integration with EVs and advanced energy-storage systems.</a:t>
            </a:r>
            <a:r>
              <a:rPr lang="en-US" sz="3200">
                <a:solidFill>
                  <a:srgbClr val="FFFFFF"/>
                </a:solidFill>
                <a:latin typeface="Hacen Tunisia" panose="02000500000000000000"/>
                <a:ea typeface="Hacen Tunisia" panose="02000500000000000000"/>
                <a:cs typeface="Hacen Tunisia" panose="02000500000000000000"/>
                <a:sym typeface="Hacen Tunisia" panose="02000500000000000000"/>
              </a:rPr>
              <a:t> </a:t>
            </a:r>
            <a:endParaRPr lang="en-US" sz="3200">
              <a:solidFill>
                <a:srgbClr val="FFFFFF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algn="l">
              <a:lnSpc>
                <a:spcPts val="3545"/>
              </a:lnSpc>
            </a:pPr>
          </a:p>
          <a:p>
            <a:pPr algn="l">
              <a:lnSpc>
                <a:spcPts val="354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826161" y="1028700"/>
            <a:ext cx="14635679" cy="1553283"/>
            <a:chOff x="0" y="0"/>
            <a:chExt cx="896661" cy="951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6661" cy="95163"/>
            </a:xfrm>
            <a:custGeom>
              <a:avLst/>
              <a:gdLst/>
              <a:ahLst/>
              <a:cxnLst/>
              <a:rect l="l" t="t" r="r" b="b"/>
              <a:pathLst>
                <a:path w="896661" h="95163">
                  <a:moveTo>
                    <a:pt x="0" y="0"/>
                  </a:moveTo>
                  <a:lnTo>
                    <a:pt x="896661" y="0"/>
                  </a:lnTo>
                  <a:lnTo>
                    <a:pt x="896661" y="95163"/>
                  </a:lnTo>
                  <a:lnTo>
                    <a:pt x="0" y="95163"/>
                  </a:lnTo>
                  <a:close/>
                </a:path>
              </a:pathLst>
            </a:custGeom>
            <a:solidFill>
              <a:srgbClr val="0078C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896661" cy="17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316746" y="1426356"/>
            <a:ext cx="11654509" cy="95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CO</a:t>
            </a:r>
            <a:r>
              <a:rPr lang="en-US" sz="7655">
                <a:solidFill>
                  <a:srgbClr val="FFFFFF"/>
                </a:solidFill>
                <a:latin typeface="Nanum Gothic Coding" panose="020D0009000000000000" charset="-127"/>
                <a:ea typeface="Nanum Gothic Coding" panose="020D0009000000000000" charset="-127"/>
                <a:cs typeface="Nanum Gothic Coding" panose="020D0009000000000000" charset="-127"/>
                <a:sym typeface="Nanum Gothic Coding" panose="020D0009000000000000" charset="-127"/>
              </a:rPr>
              <a:t>NCLUSION</a:t>
            </a:r>
            <a:endParaRPr lang="en-US" sz="7655">
              <a:solidFill>
                <a:srgbClr val="FFFFFF"/>
              </a:solidFill>
              <a:latin typeface="Nanum Gothic Coding" panose="020D0009000000000000" charset="-127"/>
              <a:ea typeface="Nanum Gothic Coding" panose="020D0009000000000000" charset="-127"/>
              <a:cs typeface="Nanum Gothic Coding" panose="020D0009000000000000" charset="-127"/>
              <a:sym typeface="Nanum Gothic Coding" panose="020D0009000000000000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2600" y="2933700"/>
            <a:ext cx="14900275" cy="710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2460" lvl="1" indent="-31623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system provides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and automated solution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battery monitoring and protection using ESP32, sensors, Wi-Fi communication, and Raspberry Pi.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2460" lvl="1" indent="-31623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enables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monitoring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oT visualization, and automatic protection through fan and relay control.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2460" lvl="1" indent="-31623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reduces manual intervention and provides 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reliable and scalable platform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various battery-powered applications.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2460" lvl="1" indent="-316230" algn="l">
              <a:lnSpc>
                <a:spcPct val="150000"/>
              </a:lnSpc>
              <a:buFont typeface="Arial" panose="020B0604020202020204"/>
              <a:buChar char="•"/>
            </a:pPr>
            <a:endParaRPr lang="en-IN" sz="3200" dirty="0"/>
          </a:p>
          <a:p>
            <a:pPr marL="632460" lvl="1" indent="-316230" algn="l">
              <a:lnSpc>
                <a:spcPct val="150000"/>
              </a:lnSpc>
              <a:buFont typeface="Arial" panose="020B0604020202020204"/>
              <a:buChar char="•"/>
            </a:pPr>
            <a:endParaRPr lang="en-US" altLang="en-US" sz="3200">
              <a:solidFill>
                <a:srgbClr val="000000"/>
              </a:solidFill>
              <a:latin typeface="Hacen Tunisia" panose="02000500000000000000"/>
              <a:ea typeface="Hacen Tunisia" panose="02000500000000000000"/>
              <a:cs typeface="Hacen Tunisia" panose="02000500000000000000"/>
              <a:sym typeface="Hacen Tunisia" panose="02000500000000000000"/>
            </a:endParaRPr>
          </a:p>
          <a:p>
            <a:pPr algn="just">
              <a:lnSpc>
                <a:spcPct val="150000"/>
              </a:lnSpc>
            </a:pPr>
            <a:endParaRPr sz="3200"/>
          </a:p>
          <a:p>
            <a:pPr algn="l">
              <a:lnSpc>
                <a:spcPts val="3545"/>
              </a:lnSpc>
            </a:pPr>
            <a:endParaRPr sz="320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450945" y="-114300"/>
            <a:ext cx="1908810" cy="19088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lide19_thankyou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200" y="38100"/>
            <a:ext cx="18389600" cy="1022477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495" y="-99695"/>
            <a:ext cx="18615660" cy="104717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935200" y="266700"/>
            <a:ext cx="2969895" cy="29698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3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4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5.xml><?xml version="1.0" encoding="utf-8"?>
<p:tagLst xmlns:p="http://schemas.openxmlformats.org/presentationml/2006/main">
  <p:tag name="KSO_WM_UNIT_INDEX" val="3"/>
  <p:tag name="KSO_WM_UNIT_TYPE" val="β"/>
  <p:tag name="KSO_WM_BEAUTIFY_FLAG" val="#wm#"/>
  <p:tag name="TABLE_ENDDRAG_ORIGIN_RECT" val="1144*565"/>
  <p:tag name="TABLE_ENDDRAG_RECT" val="143*189*1144*565"/>
</p:tagLst>
</file>

<file path=ppt/tags/tag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7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1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2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4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9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3875</Words>
  <Application>WPS Presentation</Application>
  <PresentationFormat>On-screen Show (4:3)</PresentationFormat>
  <Paragraphs>160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Open Sans Condensed Bold</vt:lpstr>
      <vt:lpstr>Hacen Tunisia</vt:lpstr>
      <vt:lpstr>Canva Sans</vt:lpstr>
      <vt:lpstr>Poppins</vt:lpstr>
      <vt:lpstr>Nanum Gothic Coding</vt:lpstr>
      <vt:lpstr>Canva Sans Bold</vt:lpstr>
      <vt:lpstr>Arial</vt:lpstr>
      <vt:lpstr>Times New Roman</vt:lpstr>
      <vt:lpstr>Hacen Tunisia Bold</vt:lpstr>
      <vt:lpstr>Microsoft YaHei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and White Modern Professional Information Technology Presentation </dc:title>
  <dc:creator/>
  <cp:lastModifiedBy>samvarthika</cp:lastModifiedBy>
  <cp:revision>8</cp:revision>
  <dcterms:created xsi:type="dcterms:W3CDTF">2006-08-16T00:00:00Z</dcterms:created>
  <dcterms:modified xsi:type="dcterms:W3CDTF">2026-10-08T06:48:28Z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F662384D99454ADFA218B4DF9185AA54_13</vt:lpwstr>
  </property>
</Properties>
</file>